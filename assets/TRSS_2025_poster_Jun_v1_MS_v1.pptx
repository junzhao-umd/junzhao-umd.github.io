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AB3C10EC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56" r:id="rId5"/>
  </p:sldIdLst>
  <p:sldSz cx="34920238" cy="5120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E2E301-19A3-99F4-37DA-A6490B1D8E07}" name="Shang, Mingfeng - (mfshang)" initials="" userId="S::mfshang@arizona.edu::6e31ce13-dd9e-438f-b160-b2b896ac49bc" providerId="AD"/>
  <p188:author id="{9D571A45-89A0-FD00-DF43-06CB96245A34}" name="Zhao, Jun - (zhaojun)" initials="" userId="S::zhaojun@arizona.edu::15ad23fb-9ed6-4357-afb6-6a4ce963336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93" autoAdjust="0"/>
    <p:restoredTop sz="94674"/>
  </p:normalViewPr>
  <p:slideViewPr>
    <p:cSldViewPr snapToGrid="0">
      <p:cViewPr>
        <p:scale>
          <a:sx n="18" d="100"/>
          <a:sy n="18" d="100"/>
        </p:scale>
        <p:origin x="1392" y="-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omments/modernComment_100_AB3C10E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A674CE-B35F-FE42-98F6-686D5D944083}" authorId="{A4E2E301-19A3-99F4-37DA-A6490B1D8E07}" created="2025-05-09T23:21:19.70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72840428" sldId="256"/>
      <ac:spMk id="4" creationId="{23F52F14-CCF1-28A0-1738-9057CCD98EC6}"/>
    </ac:deMkLst>
    <p188:replyLst>
      <p188:reply id="{B01E8C89-A445-6E40-8411-1E36DDD0DE80}" authorId="{9D571A45-89A0-FD00-DF43-06CB96245A34}" created="2025-05-10T02:48:24.372">
        <p188:txBody>
          <a:bodyPr/>
          <a:lstStyle/>
          <a:p>
            <a:r>
              <a:rPr lang="en-US"/>
              <a:t>changed</a:t>
            </a:r>
          </a:p>
        </p188:txBody>
      </p188:reply>
    </p188:replyLst>
    <p188:txBody>
      <a:bodyPr/>
      <a:lstStyle/>
      <a:p>
        <a:r>
          <a:rPr lang="en-US"/>
          <a:t>Did previous presentations use blue or green color? I think blue is better than green in terms of the theme. </a:t>
        </a:r>
      </a:p>
    </p188:txBody>
  </p188:cm>
  <p188:cm id="{297823E3-C421-5545-86A2-F3DD6FE80193}" authorId="{A4E2E301-19A3-99F4-37DA-A6490B1D8E07}" created="2025-05-09T23:21:43.64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72840428" sldId="256"/>
      <ac:picMk id="5" creationId="{0FD1BCF6-E124-F36D-B243-E2610D65D05D}"/>
    </ac:deMkLst>
    <p188:replyLst>
      <p188:reply id="{81BA04D5-2DEE-0344-B106-69400DAB4B6C}" authorId="{9D571A45-89A0-FD00-DF43-06CB96245A34}" created="2025-05-10T02:48:40.779">
        <p188:txBody>
          <a:bodyPr/>
          <a:lstStyle/>
          <a:p>
            <a:r>
              <a:rPr lang="en-US"/>
              <a:t>added</a:t>
            </a:r>
          </a:p>
        </p188:txBody>
      </p188:reply>
    </p188:replyLst>
    <p188:txBody>
      <a:bodyPr/>
      <a:lstStyle/>
      <a:p>
        <a:r>
          <a:rPr lang="en-US"/>
          <a:t>We need to have CATS logo as well</a:t>
        </a:r>
      </a:p>
    </p188:txBody>
  </p188:cm>
  <p188:cm id="{2C4EB588-DF68-F143-8A6B-C42008EF8AC4}" authorId="{A4E2E301-19A3-99F4-37DA-A6490B1D8E07}" created="2025-05-09T23:22:38.7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72840428" sldId="256"/>
      <ac:spMk id="21" creationId="{5F63DB8C-ECD0-397B-F88E-3CEAA04F9229}"/>
      <ac:txMk cp="0" len="26">
        <ac:context len="585" hash="3218629360"/>
      </ac:txMk>
    </ac:txMkLst>
    <p188:pos x="7308871" y="1597045"/>
    <p188:replyLst>
      <p188:reply id="{098AFB81-0904-004D-AC56-A3F5091BCFE7}" authorId="{9D571A45-89A0-FD00-DF43-06CB96245A34}" created="2025-05-10T02:50:46.776">
        <p188:txBody>
          <a:bodyPr/>
          <a:lstStyle/>
          <a:p>
            <a:r>
              <a:rPr lang="en-US"/>
              <a:t>changed</a:t>
            </a:r>
          </a:p>
        </p188:txBody>
      </p188:reply>
    </p188:replyLst>
    <p188:txBody>
      <a:bodyPr/>
      <a:lstStyle/>
      <a:p>
        <a:r>
          <a:rPr lang="en-US"/>
          <a:t>I don’t think the underline is necessary.  It would be strange when printing out.</a:t>
        </a:r>
      </a:p>
    </p188:txBody>
  </p188:cm>
  <p188:cm id="{1332EBBE-EDC3-844D-A704-6D9A2CAADBDE}" authorId="{A4E2E301-19A3-99F4-37DA-A6490B1D8E07}" created="2025-05-09T23:23:02.8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72840428" sldId="256"/>
      <ac:spMk id="27" creationId="{113CD7B1-CAC1-3079-6BA1-3A1238FA6AB7}"/>
      <ac:txMk cp="604" len="4">
        <ac:context len="747" hash="2831679839"/>
      </ac:txMk>
    </ac:txMkLst>
    <p188:pos x="10893737" y="10188591"/>
    <p188:txBody>
      <a:bodyPr/>
      <a:lstStyle/>
      <a:p>
        <a:r>
          <a:rPr lang="en-US"/>
          <a:t>Write it out</a:t>
        </a:r>
      </a:p>
    </p188:txBody>
  </p188:cm>
  <p188:cm id="{B917F19D-E0C0-534F-9BDB-E2175B36EA19}" authorId="{A4E2E301-19A3-99F4-37DA-A6490B1D8E07}" created="2025-05-09T23:24:10.9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72840428" sldId="256"/>
      <ac:spMk id="27" creationId="{113CD7B1-CAC1-3079-6BA1-3A1238FA6AB7}"/>
      <ac:txMk cp="507" len="103">
        <ac:context len="747" hash="2831679839"/>
      </ac:txMk>
    </ac:txMkLst>
    <p188:pos x="16249509" y="9535448"/>
    <p188:txBody>
      <a:bodyPr/>
      <a:lstStyle/>
      <a:p>
        <a:r>
          <a:rPr lang="en-US"/>
          <a:t>The reserve order should work as well.</a:t>
        </a:r>
      </a:p>
    </p188:txBody>
  </p188:cm>
  <p188:cm id="{61196B9D-6DE0-A343-8215-80052222483C}" authorId="{A4E2E301-19A3-99F4-37DA-A6490B1D8E07}" created="2025-05-09T23:25:47.5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72840428" sldId="256"/>
      <ac:spMk id="39" creationId="{83785B67-AACD-4238-9C84-2E12AE2ED986}"/>
      <ac:txMk cp="0">
        <ac:context len="544" hash="285928111"/>
      </ac:txMk>
    </ac:txMkLst>
    <p188:pos x="3970423" y="5167030"/>
    <p188:replyLst>
      <p188:reply id="{6D48CD3A-F3F7-6744-89D5-D19103D1A4B0}" authorId="{9D571A45-89A0-FD00-DF43-06CB96245A34}" created="2025-05-10T02:53:26.989">
        <p188:txBody>
          <a:bodyPr/>
          <a:lstStyle/>
          <a:p>
            <a:r>
              <a:rPr lang="en-US"/>
              <a:t>changed
</a:t>
            </a:r>
          </a:p>
        </p188:txBody>
      </p188:reply>
    </p188:replyLst>
    <p188:txBody>
      <a:bodyPr/>
      <a:lstStyle/>
      <a:p>
        <a:r>
          <a:rPr lang="en-US"/>
          <a:t>v is not capitalized </a:t>
        </a:r>
      </a:p>
    </p188:txBody>
  </p188:cm>
  <p188:cm id="{979A8903-8F14-F74B-A1DA-6BEEA621F465}" authorId="{A4E2E301-19A3-99F4-37DA-A6490B1D8E07}" created="2025-05-09T23:26:50.8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72840428" sldId="256"/>
      <ac:spMk id="46" creationId="{9CA5C553-CD4E-E512-53AE-655658306C2E}"/>
      <ac:txMk cp="212">
        <ac:context len="506" hash="3740188512"/>
      </ac:txMk>
    </ac:txMkLst>
    <p188:pos x="5325927" y="4421937"/>
    <p188:replyLst>
      <p188:reply id="{AA44496E-B93B-D642-9913-D2BDBDE2DEC6}" authorId="{9D571A45-89A0-FD00-DF43-06CB96245A34}" created="2025-05-10T02:55:52.923">
        <p188:txBody>
          <a:bodyPr/>
          <a:lstStyle/>
          <a:p>
            <a:r>
              <a:rPr lang="en-US"/>
              <a:t>deleted</a:t>
            </a:r>
          </a:p>
        </p188:txBody>
      </p188:reply>
    </p188:replyLst>
    <p188:txBody>
      <a:bodyPr/>
      <a:lstStyle/>
      <a:p>
        <a:r>
          <a:rPr lang="en-US"/>
          <a:t>Consider to have the table</a:t>
        </a:r>
      </a:p>
    </p188:txBody>
  </p188:cm>
  <p188:cm id="{881C08A7-F36D-A64C-9728-BD7D74F94212}" authorId="{A4E2E301-19A3-99F4-37DA-A6490B1D8E07}" created="2025-05-09T23:27:40.75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72840428" sldId="256"/>
      <ac:spMk id="46" creationId="{9CA5C553-CD4E-E512-53AE-655658306C2E}"/>
      <ac:txMk cp="328" len="56">
        <ac:context len="506" hash="3740188512"/>
      </ac:txMk>
    </ac:txMkLst>
    <p188:pos x="9636669" y="11127537"/>
    <p188:replyLst>
      <p188:reply id="{FFEE971B-E252-E542-9F25-328BCF8205EE}" authorId="{9D571A45-89A0-FD00-DF43-06CB96245A34}" created="2025-05-10T03:01:09.341">
        <p188:txBody>
          <a:bodyPr/>
          <a:lstStyle/>
          <a:p>
            <a:r>
              <a:rPr lang="en-US"/>
              <a:t>We have: ACC-equipped vehicles also exhibit lower vari-
ability than human-driven vehicles, suggesting smoother car-following dynamics.</a:t>
            </a:r>
          </a:p>
        </p188:txBody>
      </p188:reply>
    </p188:replyLst>
    <p188:txBody>
      <a:bodyPr/>
      <a:lstStyle/>
      <a:p>
        <a:r>
          <a:rPr lang="en-US"/>
          <a:t>I don’t think we have this finding, do we?</a:t>
        </a:r>
      </a:p>
    </p188:txBody>
  </p188:cm>
  <p188:cm id="{5FD8122A-569F-6945-B4F8-6E6AE0236E95}" authorId="{A4E2E301-19A3-99F4-37DA-A6490B1D8E07}" created="2025-05-09T23:28:27.12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72840428" sldId="256"/>
      <ac:spMk id="50" creationId="{C988541F-79F8-07D7-FC5B-11AAEBB23E74}"/>
      <ac:txMk cp="218" len="24">
        <ac:context len="897" hash="3500509719"/>
      </ac:txMk>
    </ac:txMkLst>
    <p188:pos x="4841262" y="7576830"/>
    <p188:replyLst>
      <p188:reply id="{DD55EF4E-AEA9-6F4A-9D98-EE4FF0CD5E1D}" authorId="{9D571A45-89A0-FD00-DF43-06CB96245A34}" created="2025-05-10T03:03:24.584">
        <p188:txBody>
          <a:bodyPr/>
          <a:lstStyle/>
          <a:p>
            <a:r>
              <a:rPr lang="en-US"/>
              <a:t>changed
</a:t>
            </a:r>
          </a:p>
        </p188:txBody>
      </p188:reply>
    </p188:replyLst>
    <p188:txBody>
      <a:bodyPr/>
      <a:lstStyle/>
      <a:p>
        <a:r>
          <a:rPr lang="en-US"/>
          <a:t>Write it out</a:t>
        </a:r>
      </a:p>
    </p188:txBody>
  </p188:cm>
  <p188:cm id="{964C3ECE-ACC0-D347-BC21-949E8EE152A7}" authorId="{A4E2E301-19A3-99F4-37DA-A6490B1D8E07}" created="2025-05-09T23:28:33.52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72840428" sldId="256"/>
      <ac:spMk id="50" creationId="{C988541F-79F8-07D7-FC5B-11AAEBB23E74}"/>
      <ac:txMk cp="436" len="24">
        <ac:context len="897" hash="3500509719"/>
      </ac:txMk>
    </ac:txMkLst>
    <p188:pos x="4841262" y="10232944"/>
    <p188:replyLst>
      <p188:reply id="{120EB536-4DB9-E748-AD46-D48FC824A2A8}" authorId="{9D571A45-89A0-FD00-DF43-06CB96245A34}" created="2025-05-10T03:03:30.310">
        <p188:txBody>
          <a:bodyPr/>
          <a:lstStyle/>
          <a:p>
            <a:r>
              <a:rPr lang="en-US"/>
              <a:t>changed</a:t>
            </a:r>
          </a:p>
        </p188:txBody>
      </p188:reply>
    </p188:replyLst>
    <p188:txBody>
      <a:bodyPr/>
      <a:lstStyle/>
      <a:p>
        <a:r>
          <a:rPr lang="en-US"/>
          <a:t>Write it out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0DC94-85FD-924F-A16B-CB08E193DB0A}" type="datetimeFigureOut">
              <a:rPr lang="en-US" smtClean="0"/>
              <a:t>5/9/25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76488" y="1143000"/>
            <a:ext cx="2105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F9C79-0EC6-5348-B9D6-2D88757C5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0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9F9C79-0EC6-5348-B9D6-2D88757C5A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7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9018" y="8380311"/>
            <a:ext cx="29682202" cy="17827413"/>
          </a:xfrm>
        </p:spPr>
        <p:txBody>
          <a:bodyPr anchor="b"/>
          <a:lstStyle>
            <a:lvl1pPr algn="ctr">
              <a:defRPr sz="229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65030" y="26895217"/>
            <a:ext cx="26190179" cy="12363023"/>
          </a:xfrm>
        </p:spPr>
        <p:txBody>
          <a:bodyPr/>
          <a:lstStyle>
            <a:lvl1pPr marL="0" indent="0" algn="ctr">
              <a:buNone/>
              <a:defRPr sz="9165"/>
            </a:lvl1pPr>
            <a:lvl2pPr marL="1746001" indent="0" algn="ctr">
              <a:buNone/>
              <a:defRPr sz="7638"/>
            </a:lvl2pPr>
            <a:lvl3pPr marL="3492002" indent="0" algn="ctr">
              <a:buNone/>
              <a:defRPr sz="6874"/>
            </a:lvl3pPr>
            <a:lvl4pPr marL="5238003" indent="0" algn="ctr">
              <a:buNone/>
              <a:defRPr sz="6110"/>
            </a:lvl4pPr>
            <a:lvl5pPr marL="6984004" indent="0" algn="ctr">
              <a:buNone/>
              <a:defRPr sz="6110"/>
            </a:lvl5pPr>
            <a:lvl6pPr marL="8730005" indent="0" algn="ctr">
              <a:buNone/>
              <a:defRPr sz="6110"/>
            </a:lvl6pPr>
            <a:lvl7pPr marL="10476006" indent="0" algn="ctr">
              <a:buNone/>
              <a:defRPr sz="6110"/>
            </a:lvl7pPr>
            <a:lvl8pPr marL="12222008" indent="0" algn="ctr">
              <a:buNone/>
              <a:defRPr sz="6110"/>
            </a:lvl8pPr>
            <a:lvl9pPr marL="13968009" indent="0" algn="ctr">
              <a:buNone/>
              <a:defRPr sz="611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91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81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2581" y="12766055"/>
            <a:ext cx="30118705" cy="21300436"/>
          </a:xfrm>
        </p:spPr>
        <p:txBody>
          <a:bodyPr anchor="b"/>
          <a:lstStyle>
            <a:lvl1pPr>
              <a:defRPr sz="229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581" y="34268002"/>
            <a:ext cx="30118705" cy="11201396"/>
          </a:xfrm>
        </p:spPr>
        <p:txBody>
          <a:bodyPr/>
          <a:lstStyle>
            <a:lvl1pPr marL="0" indent="0">
              <a:buNone/>
              <a:defRPr sz="9165">
                <a:solidFill>
                  <a:schemeClr val="tx1">
                    <a:tint val="82000"/>
                  </a:schemeClr>
                </a:solidFill>
              </a:defRPr>
            </a:lvl1pPr>
            <a:lvl2pPr marL="1746001" indent="0">
              <a:buNone/>
              <a:defRPr sz="7638">
                <a:solidFill>
                  <a:schemeClr val="tx1">
                    <a:tint val="82000"/>
                  </a:schemeClr>
                </a:solidFill>
              </a:defRPr>
            </a:lvl2pPr>
            <a:lvl3pPr marL="3492002" indent="0">
              <a:buNone/>
              <a:defRPr sz="6874">
                <a:solidFill>
                  <a:schemeClr val="tx1">
                    <a:tint val="82000"/>
                  </a:schemeClr>
                </a:solidFill>
              </a:defRPr>
            </a:lvl3pPr>
            <a:lvl4pPr marL="5238003" indent="0">
              <a:buNone/>
              <a:defRPr sz="6110">
                <a:solidFill>
                  <a:schemeClr val="tx1">
                    <a:tint val="82000"/>
                  </a:schemeClr>
                </a:solidFill>
              </a:defRPr>
            </a:lvl4pPr>
            <a:lvl5pPr marL="6984004" indent="0">
              <a:buNone/>
              <a:defRPr sz="6110">
                <a:solidFill>
                  <a:schemeClr val="tx1">
                    <a:tint val="82000"/>
                  </a:schemeClr>
                </a:solidFill>
              </a:defRPr>
            </a:lvl5pPr>
            <a:lvl6pPr marL="8730005" indent="0">
              <a:buNone/>
              <a:defRPr sz="6110">
                <a:solidFill>
                  <a:schemeClr val="tx1">
                    <a:tint val="82000"/>
                  </a:schemeClr>
                </a:solidFill>
              </a:defRPr>
            </a:lvl6pPr>
            <a:lvl7pPr marL="10476006" indent="0">
              <a:buNone/>
              <a:defRPr sz="6110">
                <a:solidFill>
                  <a:schemeClr val="tx1">
                    <a:tint val="82000"/>
                  </a:schemeClr>
                </a:solidFill>
              </a:defRPr>
            </a:lvl7pPr>
            <a:lvl8pPr marL="12222008" indent="0">
              <a:buNone/>
              <a:defRPr sz="6110">
                <a:solidFill>
                  <a:schemeClr val="tx1">
                    <a:tint val="82000"/>
                  </a:schemeClr>
                </a:solidFill>
              </a:defRPr>
            </a:lvl8pPr>
            <a:lvl9pPr marL="13968009" indent="0">
              <a:buNone/>
              <a:defRPr sz="611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38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00766" y="13631334"/>
            <a:ext cx="14841101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678371" y="13631334"/>
            <a:ext cx="14841101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5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5315" y="2726278"/>
            <a:ext cx="30118705" cy="98975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5319" y="12552684"/>
            <a:ext cx="14772895" cy="6151876"/>
          </a:xfrm>
        </p:spPr>
        <p:txBody>
          <a:bodyPr anchor="b"/>
          <a:lstStyle>
            <a:lvl1pPr marL="0" indent="0">
              <a:buNone/>
              <a:defRPr sz="9165" b="1"/>
            </a:lvl1pPr>
            <a:lvl2pPr marL="1746001" indent="0">
              <a:buNone/>
              <a:defRPr sz="7638" b="1"/>
            </a:lvl2pPr>
            <a:lvl3pPr marL="3492002" indent="0">
              <a:buNone/>
              <a:defRPr sz="6874" b="1"/>
            </a:lvl3pPr>
            <a:lvl4pPr marL="5238003" indent="0">
              <a:buNone/>
              <a:defRPr sz="6110" b="1"/>
            </a:lvl4pPr>
            <a:lvl5pPr marL="6984004" indent="0">
              <a:buNone/>
              <a:defRPr sz="6110" b="1"/>
            </a:lvl5pPr>
            <a:lvl6pPr marL="8730005" indent="0">
              <a:buNone/>
              <a:defRPr sz="6110" b="1"/>
            </a:lvl6pPr>
            <a:lvl7pPr marL="10476006" indent="0">
              <a:buNone/>
              <a:defRPr sz="6110" b="1"/>
            </a:lvl7pPr>
            <a:lvl8pPr marL="12222008" indent="0">
              <a:buNone/>
              <a:defRPr sz="6110" b="1"/>
            </a:lvl8pPr>
            <a:lvl9pPr marL="13968009" indent="0">
              <a:buNone/>
              <a:defRPr sz="611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05319" y="18704560"/>
            <a:ext cx="14772895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678373" y="12552684"/>
            <a:ext cx="14845649" cy="6151876"/>
          </a:xfrm>
        </p:spPr>
        <p:txBody>
          <a:bodyPr anchor="b"/>
          <a:lstStyle>
            <a:lvl1pPr marL="0" indent="0">
              <a:buNone/>
              <a:defRPr sz="9165" b="1"/>
            </a:lvl1pPr>
            <a:lvl2pPr marL="1746001" indent="0">
              <a:buNone/>
              <a:defRPr sz="7638" b="1"/>
            </a:lvl2pPr>
            <a:lvl3pPr marL="3492002" indent="0">
              <a:buNone/>
              <a:defRPr sz="6874" b="1"/>
            </a:lvl3pPr>
            <a:lvl4pPr marL="5238003" indent="0">
              <a:buNone/>
              <a:defRPr sz="6110" b="1"/>
            </a:lvl4pPr>
            <a:lvl5pPr marL="6984004" indent="0">
              <a:buNone/>
              <a:defRPr sz="6110" b="1"/>
            </a:lvl5pPr>
            <a:lvl6pPr marL="8730005" indent="0">
              <a:buNone/>
              <a:defRPr sz="6110" b="1"/>
            </a:lvl6pPr>
            <a:lvl7pPr marL="10476006" indent="0">
              <a:buNone/>
              <a:defRPr sz="6110" b="1"/>
            </a:lvl7pPr>
            <a:lvl8pPr marL="12222008" indent="0">
              <a:buNone/>
              <a:defRPr sz="6110" b="1"/>
            </a:lvl8pPr>
            <a:lvl9pPr marL="13968009" indent="0">
              <a:buNone/>
              <a:defRPr sz="611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678373" y="18704560"/>
            <a:ext cx="14845649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29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1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7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5315" y="3413760"/>
            <a:ext cx="11262686" cy="11948160"/>
          </a:xfrm>
        </p:spPr>
        <p:txBody>
          <a:bodyPr anchor="b"/>
          <a:lstStyle>
            <a:lvl1pPr>
              <a:defRPr sz="122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5650" y="7372785"/>
            <a:ext cx="17678370" cy="36389733"/>
          </a:xfrm>
        </p:spPr>
        <p:txBody>
          <a:bodyPr/>
          <a:lstStyle>
            <a:lvl1pPr>
              <a:defRPr sz="12220"/>
            </a:lvl1pPr>
            <a:lvl2pPr>
              <a:defRPr sz="10693"/>
            </a:lvl2pPr>
            <a:lvl3pPr>
              <a:defRPr sz="9165"/>
            </a:lvl3pPr>
            <a:lvl4pPr>
              <a:defRPr sz="7638"/>
            </a:lvl4pPr>
            <a:lvl5pPr>
              <a:defRPr sz="7638"/>
            </a:lvl5pPr>
            <a:lvl6pPr>
              <a:defRPr sz="7638"/>
            </a:lvl6pPr>
            <a:lvl7pPr>
              <a:defRPr sz="7638"/>
            </a:lvl7pPr>
            <a:lvl8pPr>
              <a:defRPr sz="7638"/>
            </a:lvl8pPr>
            <a:lvl9pPr>
              <a:defRPr sz="763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05315" y="15361920"/>
            <a:ext cx="11262686" cy="28459857"/>
          </a:xfrm>
        </p:spPr>
        <p:txBody>
          <a:bodyPr/>
          <a:lstStyle>
            <a:lvl1pPr marL="0" indent="0">
              <a:buNone/>
              <a:defRPr sz="6110"/>
            </a:lvl1pPr>
            <a:lvl2pPr marL="1746001" indent="0">
              <a:buNone/>
              <a:defRPr sz="5346"/>
            </a:lvl2pPr>
            <a:lvl3pPr marL="3492002" indent="0">
              <a:buNone/>
              <a:defRPr sz="4583"/>
            </a:lvl3pPr>
            <a:lvl4pPr marL="5238003" indent="0">
              <a:buNone/>
              <a:defRPr sz="3819"/>
            </a:lvl4pPr>
            <a:lvl5pPr marL="6984004" indent="0">
              <a:buNone/>
              <a:defRPr sz="3819"/>
            </a:lvl5pPr>
            <a:lvl6pPr marL="8730005" indent="0">
              <a:buNone/>
              <a:defRPr sz="3819"/>
            </a:lvl6pPr>
            <a:lvl7pPr marL="10476006" indent="0">
              <a:buNone/>
              <a:defRPr sz="3819"/>
            </a:lvl7pPr>
            <a:lvl8pPr marL="12222008" indent="0">
              <a:buNone/>
              <a:defRPr sz="3819"/>
            </a:lvl8pPr>
            <a:lvl9pPr marL="13968009" indent="0">
              <a:buNone/>
              <a:defRPr sz="38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55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5315" y="3413760"/>
            <a:ext cx="11262686" cy="11948160"/>
          </a:xfrm>
        </p:spPr>
        <p:txBody>
          <a:bodyPr anchor="b"/>
          <a:lstStyle>
            <a:lvl1pPr>
              <a:defRPr sz="122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5650" y="7372785"/>
            <a:ext cx="17678370" cy="36389733"/>
          </a:xfrm>
        </p:spPr>
        <p:txBody>
          <a:bodyPr anchor="t"/>
          <a:lstStyle>
            <a:lvl1pPr marL="0" indent="0">
              <a:buNone/>
              <a:defRPr sz="12220"/>
            </a:lvl1pPr>
            <a:lvl2pPr marL="1746001" indent="0">
              <a:buNone/>
              <a:defRPr sz="10693"/>
            </a:lvl2pPr>
            <a:lvl3pPr marL="3492002" indent="0">
              <a:buNone/>
              <a:defRPr sz="9165"/>
            </a:lvl3pPr>
            <a:lvl4pPr marL="5238003" indent="0">
              <a:buNone/>
              <a:defRPr sz="7638"/>
            </a:lvl4pPr>
            <a:lvl5pPr marL="6984004" indent="0">
              <a:buNone/>
              <a:defRPr sz="7638"/>
            </a:lvl5pPr>
            <a:lvl6pPr marL="8730005" indent="0">
              <a:buNone/>
              <a:defRPr sz="7638"/>
            </a:lvl6pPr>
            <a:lvl7pPr marL="10476006" indent="0">
              <a:buNone/>
              <a:defRPr sz="7638"/>
            </a:lvl7pPr>
            <a:lvl8pPr marL="12222008" indent="0">
              <a:buNone/>
              <a:defRPr sz="7638"/>
            </a:lvl8pPr>
            <a:lvl9pPr marL="13968009" indent="0">
              <a:buNone/>
              <a:defRPr sz="76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05315" y="15361920"/>
            <a:ext cx="11262686" cy="28459857"/>
          </a:xfrm>
        </p:spPr>
        <p:txBody>
          <a:bodyPr/>
          <a:lstStyle>
            <a:lvl1pPr marL="0" indent="0">
              <a:buNone/>
              <a:defRPr sz="6110"/>
            </a:lvl1pPr>
            <a:lvl2pPr marL="1746001" indent="0">
              <a:buNone/>
              <a:defRPr sz="5346"/>
            </a:lvl2pPr>
            <a:lvl3pPr marL="3492002" indent="0">
              <a:buNone/>
              <a:defRPr sz="4583"/>
            </a:lvl3pPr>
            <a:lvl4pPr marL="5238003" indent="0">
              <a:buNone/>
              <a:defRPr sz="3819"/>
            </a:lvl4pPr>
            <a:lvl5pPr marL="6984004" indent="0">
              <a:buNone/>
              <a:defRPr sz="3819"/>
            </a:lvl5pPr>
            <a:lvl6pPr marL="8730005" indent="0">
              <a:buNone/>
              <a:defRPr sz="3819"/>
            </a:lvl6pPr>
            <a:lvl7pPr marL="10476006" indent="0">
              <a:buNone/>
              <a:defRPr sz="3819"/>
            </a:lvl7pPr>
            <a:lvl8pPr marL="12222008" indent="0">
              <a:buNone/>
              <a:defRPr sz="3819"/>
            </a:lvl8pPr>
            <a:lvl9pPr marL="13968009" indent="0">
              <a:buNone/>
              <a:defRPr sz="381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3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01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4989797" y="2726267"/>
            <a:ext cx="7529676" cy="433950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00768" y="2726267"/>
            <a:ext cx="22152526" cy="433950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8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00767" y="2726278"/>
            <a:ext cx="30118705" cy="9897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0767" y="13631334"/>
            <a:ext cx="30118705" cy="32489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00766" y="47460758"/>
            <a:ext cx="7857054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566AF-653D-4C09-8293-A222E30D4360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567329" y="47460758"/>
            <a:ext cx="1178558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662418" y="47460758"/>
            <a:ext cx="7857054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38392-0AC4-48E3-8B51-C23E587FA4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71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492002" rtl="0" eaLnBrk="1" latinLnBrk="0" hangingPunct="1">
        <a:lnSpc>
          <a:spcPct val="90000"/>
        </a:lnSpc>
        <a:spcBef>
          <a:spcPct val="0"/>
        </a:spcBef>
        <a:buNone/>
        <a:defRPr sz="168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73001" indent="-873001" algn="l" defTabSz="3492002" rtl="0" eaLnBrk="1" latinLnBrk="0" hangingPunct="1">
        <a:lnSpc>
          <a:spcPct val="90000"/>
        </a:lnSpc>
        <a:spcBef>
          <a:spcPts val="3819"/>
        </a:spcBef>
        <a:buFont typeface="Arial" panose="020B0604020202020204" pitchFamily="34" charset="0"/>
        <a:buChar char="•"/>
        <a:defRPr sz="10693" kern="1200">
          <a:solidFill>
            <a:schemeClr val="tx1"/>
          </a:solidFill>
          <a:latin typeface="+mn-lt"/>
          <a:ea typeface="+mn-ea"/>
          <a:cs typeface="+mn-cs"/>
        </a:defRPr>
      </a:lvl1pPr>
      <a:lvl2pPr marL="2619002" indent="-873001" algn="l" defTabSz="3492002" rtl="0" eaLnBrk="1" latinLnBrk="0" hangingPunct="1">
        <a:lnSpc>
          <a:spcPct val="90000"/>
        </a:lnSpc>
        <a:spcBef>
          <a:spcPts val="1909"/>
        </a:spcBef>
        <a:buFont typeface="Arial" panose="020B0604020202020204" pitchFamily="34" charset="0"/>
        <a:buChar char="•"/>
        <a:defRPr sz="9165" kern="1200">
          <a:solidFill>
            <a:schemeClr val="tx1"/>
          </a:solidFill>
          <a:latin typeface="+mn-lt"/>
          <a:ea typeface="+mn-ea"/>
          <a:cs typeface="+mn-cs"/>
        </a:defRPr>
      </a:lvl2pPr>
      <a:lvl3pPr marL="4365003" indent="-873001" algn="l" defTabSz="3492002" rtl="0" eaLnBrk="1" latinLnBrk="0" hangingPunct="1">
        <a:lnSpc>
          <a:spcPct val="90000"/>
        </a:lnSpc>
        <a:spcBef>
          <a:spcPts val="1909"/>
        </a:spcBef>
        <a:buFont typeface="Arial" panose="020B0604020202020204" pitchFamily="34" charset="0"/>
        <a:buChar char="•"/>
        <a:defRPr sz="7638" kern="1200">
          <a:solidFill>
            <a:schemeClr val="tx1"/>
          </a:solidFill>
          <a:latin typeface="+mn-lt"/>
          <a:ea typeface="+mn-ea"/>
          <a:cs typeface="+mn-cs"/>
        </a:defRPr>
      </a:lvl3pPr>
      <a:lvl4pPr marL="6111004" indent="-873001" algn="l" defTabSz="3492002" rtl="0" eaLnBrk="1" latinLnBrk="0" hangingPunct="1">
        <a:lnSpc>
          <a:spcPct val="90000"/>
        </a:lnSpc>
        <a:spcBef>
          <a:spcPts val="1909"/>
        </a:spcBef>
        <a:buFont typeface="Arial" panose="020B0604020202020204" pitchFamily="34" charset="0"/>
        <a:buChar char="•"/>
        <a:defRPr sz="6874" kern="1200">
          <a:solidFill>
            <a:schemeClr val="tx1"/>
          </a:solidFill>
          <a:latin typeface="+mn-lt"/>
          <a:ea typeface="+mn-ea"/>
          <a:cs typeface="+mn-cs"/>
        </a:defRPr>
      </a:lvl4pPr>
      <a:lvl5pPr marL="7857005" indent="-873001" algn="l" defTabSz="3492002" rtl="0" eaLnBrk="1" latinLnBrk="0" hangingPunct="1">
        <a:lnSpc>
          <a:spcPct val="90000"/>
        </a:lnSpc>
        <a:spcBef>
          <a:spcPts val="1909"/>
        </a:spcBef>
        <a:buFont typeface="Arial" panose="020B0604020202020204" pitchFamily="34" charset="0"/>
        <a:buChar char="•"/>
        <a:defRPr sz="6874" kern="1200">
          <a:solidFill>
            <a:schemeClr val="tx1"/>
          </a:solidFill>
          <a:latin typeface="+mn-lt"/>
          <a:ea typeface="+mn-ea"/>
          <a:cs typeface="+mn-cs"/>
        </a:defRPr>
      </a:lvl5pPr>
      <a:lvl6pPr marL="9603006" indent="-873001" algn="l" defTabSz="3492002" rtl="0" eaLnBrk="1" latinLnBrk="0" hangingPunct="1">
        <a:lnSpc>
          <a:spcPct val="90000"/>
        </a:lnSpc>
        <a:spcBef>
          <a:spcPts val="1909"/>
        </a:spcBef>
        <a:buFont typeface="Arial" panose="020B0604020202020204" pitchFamily="34" charset="0"/>
        <a:buChar char="•"/>
        <a:defRPr sz="6874" kern="1200">
          <a:solidFill>
            <a:schemeClr val="tx1"/>
          </a:solidFill>
          <a:latin typeface="+mn-lt"/>
          <a:ea typeface="+mn-ea"/>
          <a:cs typeface="+mn-cs"/>
        </a:defRPr>
      </a:lvl6pPr>
      <a:lvl7pPr marL="11349007" indent="-873001" algn="l" defTabSz="3492002" rtl="0" eaLnBrk="1" latinLnBrk="0" hangingPunct="1">
        <a:lnSpc>
          <a:spcPct val="90000"/>
        </a:lnSpc>
        <a:spcBef>
          <a:spcPts val="1909"/>
        </a:spcBef>
        <a:buFont typeface="Arial" panose="020B0604020202020204" pitchFamily="34" charset="0"/>
        <a:buChar char="•"/>
        <a:defRPr sz="6874" kern="1200">
          <a:solidFill>
            <a:schemeClr val="tx1"/>
          </a:solidFill>
          <a:latin typeface="+mn-lt"/>
          <a:ea typeface="+mn-ea"/>
          <a:cs typeface="+mn-cs"/>
        </a:defRPr>
      </a:lvl7pPr>
      <a:lvl8pPr marL="13095008" indent="-873001" algn="l" defTabSz="3492002" rtl="0" eaLnBrk="1" latinLnBrk="0" hangingPunct="1">
        <a:lnSpc>
          <a:spcPct val="90000"/>
        </a:lnSpc>
        <a:spcBef>
          <a:spcPts val="1909"/>
        </a:spcBef>
        <a:buFont typeface="Arial" panose="020B0604020202020204" pitchFamily="34" charset="0"/>
        <a:buChar char="•"/>
        <a:defRPr sz="6874" kern="1200">
          <a:solidFill>
            <a:schemeClr val="tx1"/>
          </a:solidFill>
          <a:latin typeface="+mn-lt"/>
          <a:ea typeface="+mn-ea"/>
          <a:cs typeface="+mn-cs"/>
        </a:defRPr>
      </a:lvl8pPr>
      <a:lvl9pPr marL="14841009" indent="-873001" algn="l" defTabSz="3492002" rtl="0" eaLnBrk="1" latinLnBrk="0" hangingPunct="1">
        <a:lnSpc>
          <a:spcPct val="90000"/>
        </a:lnSpc>
        <a:spcBef>
          <a:spcPts val="1909"/>
        </a:spcBef>
        <a:buFont typeface="Arial" panose="020B0604020202020204" pitchFamily="34" charset="0"/>
        <a:buChar char="•"/>
        <a:defRPr sz="68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92002" rtl="0" eaLnBrk="1" latinLnBrk="0" hangingPunct="1">
        <a:defRPr sz="6874" kern="1200">
          <a:solidFill>
            <a:schemeClr val="tx1"/>
          </a:solidFill>
          <a:latin typeface="+mn-lt"/>
          <a:ea typeface="+mn-ea"/>
          <a:cs typeface="+mn-cs"/>
        </a:defRPr>
      </a:lvl1pPr>
      <a:lvl2pPr marL="1746001" algn="l" defTabSz="3492002" rtl="0" eaLnBrk="1" latinLnBrk="0" hangingPunct="1">
        <a:defRPr sz="6874" kern="1200">
          <a:solidFill>
            <a:schemeClr val="tx1"/>
          </a:solidFill>
          <a:latin typeface="+mn-lt"/>
          <a:ea typeface="+mn-ea"/>
          <a:cs typeface="+mn-cs"/>
        </a:defRPr>
      </a:lvl2pPr>
      <a:lvl3pPr marL="3492002" algn="l" defTabSz="3492002" rtl="0" eaLnBrk="1" latinLnBrk="0" hangingPunct="1">
        <a:defRPr sz="6874" kern="1200">
          <a:solidFill>
            <a:schemeClr val="tx1"/>
          </a:solidFill>
          <a:latin typeface="+mn-lt"/>
          <a:ea typeface="+mn-ea"/>
          <a:cs typeface="+mn-cs"/>
        </a:defRPr>
      </a:lvl3pPr>
      <a:lvl4pPr marL="5238003" algn="l" defTabSz="3492002" rtl="0" eaLnBrk="1" latinLnBrk="0" hangingPunct="1">
        <a:defRPr sz="6874" kern="1200">
          <a:solidFill>
            <a:schemeClr val="tx1"/>
          </a:solidFill>
          <a:latin typeface="+mn-lt"/>
          <a:ea typeface="+mn-ea"/>
          <a:cs typeface="+mn-cs"/>
        </a:defRPr>
      </a:lvl4pPr>
      <a:lvl5pPr marL="6984004" algn="l" defTabSz="3492002" rtl="0" eaLnBrk="1" latinLnBrk="0" hangingPunct="1">
        <a:defRPr sz="6874" kern="1200">
          <a:solidFill>
            <a:schemeClr val="tx1"/>
          </a:solidFill>
          <a:latin typeface="+mn-lt"/>
          <a:ea typeface="+mn-ea"/>
          <a:cs typeface="+mn-cs"/>
        </a:defRPr>
      </a:lvl5pPr>
      <a:lvl6pPr marL="8730005" algn="l" defTabSz="3492002" rtl="0" eaLnBrk="1" latinLnBrk="0" hangingPunct="1">
        <a:defRPr sz="6874" kern="1200">
          <a:solidFill>
            <a:schemeClr val="tx1"/>
          </a:solidFill>
          <a:latin typeface="+mn-lt"/>
          <a:ea typeface="+mn-ea"/>
          <a:cs typeface="+mn-cs"/>
        </a:defRPr>
      </a:lvl6pPr>
      <a:lvl7pPr marL="10476006" algn="l" defTabSz="3492002" rtl="0" eaLnBrk="1" latinLnBrk="0" hangingPunct="1">
        <a:defRPr sz="6874" kern="1200">
          <a:solidFill>
            <a:schemeClr val="tx1"/>
          </a:solidFill>
          <a:latin typeface="+mn-lt"/>
          <a:ea typeface="+mn-ea"/>
          <a:cs typeface="+mn-cs"/>
        </a:defRPr>
      </a:lvl7pPr>
      <a:lvl8pPr marL="12222008" algn="l" defTabSz="3492002" rtl="0" eaLnBrk="1" latinLnBrk="0" hangingPunct="1">
        <a:defRPr sz="6874" kern="1200">
          <a:solidFill>
            <a:schemeClr val="tx1"/>
          </a:solidFill>
          <a:latin typeface="+mn-lt"/>
          <a:ea typeface="+mn-ea"/>
          <a:cs typeface="+mn-cs"/>
        </a:defRPr>
      </a:lvl8pPr>
      <a:lvl9pPr marL="13968009" algn="l" defTabSz="3492002" rtl="0" eaLnBrk="1" latinLnBrk="0" hangingPunct="1">
        <a:defRPr sz="68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8/10/relationships/comments" Target="../comments/modernComment_100_AB3C10EC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F52F14-CCF1-28A0-1738-9057CCD98EC6}"/>
              </a:ext>
            </a:extLst>
          </p:cNvPr>
          <p:cNvSpPr txBox="1"/>
          <p:nvPr/>
        </p:nvSpPr>
        <p:spPr>
          <a:xfrm>
            <a:off x="0" y="0"/>
            <a:ext cx="3492023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Data-Driven Classification of Vehicle Driving Behavior in Mixed Traffic Using Car-Following Trajectories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1BCF6-E124-F36D-B243-E2610D65D0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443" y="2463650"/>
            <a:ext cx="6496963" cy="1539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4E2F04-D3EA-F078-060A-8E0961B8F51E}"/>
              </a:ext>
            </a:extLst>
          </p:cNvPr>
          <p:cNvSpPr txBox="1"/>
          <p:nvPr/>
        </p:nvSpPr>
        <p:spPr>
          <a:xfrm>
            <a:off x="0" y="4326127"/>
            <a:ext cx="349202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Jun Zhao, </a:t>
            </a:r>
            <a:r>
              <a:rPr lang="en-US" sz="6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Mingfeng</a:t>
            </a:r>
            <a:r>
              <a:rPr lang="en-US" sz="6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 Shang, Gabriel Geffen, Yao-Jan Wu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10672D-DC92-A7FD-545D-7EB683F601EC}"/>
              </a:ext>
            </a:extLst>
          </p:cNvPr>
          <p:cNvCxnSpPr>
            <a:cxnSpLocks/>
          </p:cNvCxnSpPr>
          <p:nvPr/>
        </p:nvCxnSpPr>
        <p:spPr>
          <a:xfrm>
            <a:off x="17489066" y="5586448"/>
            <a:ext cx="0" cy="4314791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FEBBBEA-6EF3-F443-A128-5693FA848F74}"/>
              </a:ext>
            </a:extLst>
          </p:cNvPr>
          <p:cNvSpPr txBox="1"/>
          <p:nvPr/>
        </p:nvSpPr>
        <p:spPr>
          <a:xfrm>
            <a:off x="129073" y="5301597"/>
            <a:ext cx="16988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I. Introduction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63DB8C-ECD0-397B-F88E-3CEAA04F9229}"/>
              </a:ext>
            </a:extLst>
          </p:cNvPr>
          <p:cNvSpPr txBox="1"/>
          <p:nvPr/>
        </p:nvSpPr>
        <p:spPr>
          <a:xfrm>
            <a:off x="659472" y="6501926"/>
            <a:ext cx="1638700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b="1" dirty="0">
                <a:latin typeface="+mj-lt"/>
              </a:rPr>
              <a:t>Automated Vehicles (AVs): </a:t>
            </a:r>
            <a:r>
              <a:rPr lang="en-US" sz="4400" dirty="0">
                <a:latin typeface="+mj-lt"/>
              </a:rPr>
              <a:t>Transforming transportation, improving string stability and traffic throughput, reducing fuel consumption and emissions.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b="1" dirty="0">
                <a:latin typeface="+mj-lt"/>
              </a:rPr>
              <a:t>Electric Vehicles (EVs): </a:t>
            </a:r>
            <a:r>
              <a:rPr lang="en-US" sz="4400" dirty="0">
                <a:latin typeface="+mj-lt"/>
              </a:rPr>
              <a:t>Increasing adoption, distinct powertrain characteristics affecting traffic dynamics.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b="1" dirty="0">
                <a:latin typeface="+mj-lt"/>
              </a:rPr>
              <a:t>Challenges: </a:t>
            </a:r>
            <a:r>
              <a:rPr lang="en-US" sz="4400" dirty="0">
                <a:latin typeface="+mj-lt"/>
              </a:rPr>
              <a:t>Limited understanding of the interplay between vehicle powertrain types and operation modes in real-world mixed traffic.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b="1" dirty="0">
                <a:latin typeface="+mj-lt"/>
              </a:rPr>
              <a:t>Objective: </a:t>
            </a:r>
            <a:r>
              <a:rPr lang="en-US" sz="4400" dirty="0">
                <a:latin typeface="+mj-lt"/>
              </a:rPr>
              <a:t> Classify vehicles in mixed traffic using two</a:t>
            </a:r>
            <a:r>
              <a:rPr lang="zh-CN" altLang="en-US" sz="4400" dirty="0">
                <a:latin typeface="+mj-lt"/>
              </a:rPr>
              <a:t> </a:t>
            </a:r>
            <a:r>
              <a:rPr lang="en-US" sz="4400" dirty="0">
                <a:latin typeface="+mj-lt"/>
              </a:rPr>
              <a:t>approaches: single-stage models that directly categorize the data</a:t>
            </a:r>
            <a:r>
              <a:rPr lang="zh-CN" altLang="en-US" sz="4400" dirty="0">
                <a:latin typeface="+mj-lt"/>
              </a:rPr>
              <a:t> </a:t>
            </a:r>
            <a:r>
              <a:rPr lang="en-US" sz="4400" dirty="0">
                <a:latin typeface="+mj-lt"/>
              </a:rPr>
              <a:t>and multi-stage models that perform classification in sequential</a:t>
            </a:r>
            <a:r>
              <a:rPr lang="zh-CN" altLang="en-US" sz="4400" dirty="0">
                <a:latin typeface="+mj-lt"/>
              </a:rPr>
              <a:t> </a:t>
            </a:r>
            <a:r>
              <a:rPr lang="en-US" sz="4400" dirty="0">
                <a:latin typeface="+mj-lt"/>
              </a:rPr>
              <a:t>steps.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086727-45DE-3CA7-4002-BE344AACC683}"/>
              </a:ext>
            </a:extLst>
          </p:cNvPr>
          <p:cNvSpPr txBox="1"/>
          <p:nvPr/>
        </p:nvSpPr>
        <p:spPr>
          <a:xfrm>
            <a:off x="129073" y="13491764"/>
            <a:ext cx="16691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II. Modeling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3CD7B1-CAC1-3079-6BA1-3A1238FA6AB7}"/>
              </a:ext>
            </a:extLst>
          </p:cNvPr>
          <p:cNvSpPr txBox="1"/>
          <p:nvPr/>
        </p:nvSpPr>
        <p:spPr>
          <a:xfrm>
            <a:off x="601577" y="14717923"/>
            <a:ext cx="16387005" cy="1080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>
                <a:latin typeface="+mj-lt"/>
              </a:rPr>
              <a:t>A. Single-stage classification model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Description: Performing classification in one step by directly mapping input data to output labels.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Advantages: Simplicity and efficiency.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Challenges: May underperform with complex or hierarchical data patterns.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Models: Random Forest (RF), </a:t>
            </a:r>
            <a:r>
              <a:rPr lang="en-US" sz="4400" dirty="0" err="1">
                <a:latin typeface="+mj-lt"/>
              </a:rPr>
              <a:t>XGBoost</a:t>
            </a:r>
            <a:r>
              <a:rPr lang="en-US" sz="4400" dirty="0">
                <a:latin typeface="+mj-lt"/>
              </a:rPr>
              <a:t>, Support Vector Machine (SVM), Logistic Regression (LR).</a:t>
            </a:r>
          </a:p>
          <a:p>
            <a:endParaRPr lang="en-US" sz="3600" dirty="0">
              <a:latin typeface="+mj-lt"/>
            </a:endParaRPr>
          </a:p>
          <a:p>
            <a:r>
              <a:rPr lang="en-US" sz="4400" b="1" i="1" dirty="0">
                <a:latin typeface="+mj-lt"/>
              </a:rPr>
              <a:t>B. Multi-stage classification model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Description: Decomposing the classification task into sequential subtasks for improved accuracy and interpretability.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Approach: Two-stage model first classifies operation mode (ACC vs. Human-driven), then vehicle type (EV vs. ICE).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Advantages: Improving interpretability and potentially higher accuracy.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Challenges: Increasing latency and potential error propagation.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FE288A-D5D3-EE30-DCDF-0F744DD100A0}"/>
              </a:ext>
            </a:extLst>
          </p:cNvPr>
          <p:cNvSpPr txBox="1"/>
          <p:nvPr/>
        </p:nvSpPr>
        <p:spPr>
          <a:xfrm>
            <a:off x="250237" y="30034972"/>
            <a:ext cx="16988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III.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3785B67-AACD-4238-9C84-2E12AE2ED986}"/>
                  </a:ext>
                </a:extLst>
              </p:cNvPr>
              <p:cNvSpPr txBox="1"/>
              <p:nvPr/>
            </p:nvSpPr>
            <p:spPr>
              <a:xfrm>
                <a:off x="601577" y="31278341"/>
                <a:ext cx="16387009" cy="74020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4400" b="1" i="1" dirty="0">
                    <a:effectLst/>
                    <a:latin typeface="+mj-lt"/>
                  </a:rPr>
                  <a:t>A. Data Processing</a:t>
                </a:r>
              </a:p>
              <a:p>
                <a:pPr marL="576072" indent="-576072" algn="l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4400" b="0" i="0" dirty="0">
                    <a:effectLst/>
                    <a:latin typeface="+mj-lt"/>
                  </a:rPr>
                  <a:t>Objective: Analyze interaction dynamics between two vehicles in a car-following scenario.</a:t>
                </a:r>
              </a:p>
              <a:p>
                <a:pPr marL="576072" indent="-576072" algn="l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4400" b="0" i="0" dirty="0">
                    <a:effectLst/>
                    <a:latin typeface="+mj-lt"/>
                  </a:rPr>
                  <a:t>Method: Decompose vehicle platoon into multiple two-vehicle pairs.</a:t>
                </a:r>
              </a:p>
              <a:p>
                <a:pPr marL="576072" indent="-576072" algn="l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4400" b="0" i="0" dirty="0">
                    <a:effectLst/>
                    <a:latin typeface="+mj-lt"/>
                  </a:rPr>
                  <a:t>Variables:</a:t>
                </a:r>
              </a:p>
              <a:p>
                <a:pPr marL="1033272" lvl="2" indent="-576072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4400" b="0" i="0" dirty="0">
                    <a:effectLst/>
                    <a:latin typeface="+mj-lt"/>
                  </a:rPr>
                  <a:t>Velocity: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b="0" i="1" smtClean="0">
                            <a:effectLst/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4400" b="0" i="1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400" b="0" i="0" dirty="0">
                    <a:effectLst/>
                    <a:latin typeface="+mj-lt"/>
                  </a:rPr>
                  <a:t>​ (following vehicle) 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4400" dirty="0"/>
                  <a:t>​ </a:t>
                </a:r>
                <a:r>
                  <a:rPr lang="en-US" sz="4400" b="0" i="0" dirty="0">
                    <a:effectLst/>
                    <a:latin typeface="+mj-lt"/>
                  </a:rPr>
                  <a:t> (lead vehicle).</a:t>
                </a:r>
              </a:p>
              <a:p>
                <a:pPr marL="1033272" lvl="2" indent="-576072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4400" b="0" i="0" dirty="0">
                    <a:effectLst/>
                    <a:latin typeface="+mj-lt"/>
                  </a:rPr>
                  <a:t>Inter-vehicle spacing (IVS):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b="0" i="1" smtClean="0"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4400" b="0" i="1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400" b="0" i="0" dirty="0">
                    <a:effectLst/>
                    <a:latin typeface="+mj-lt"/>
                  </a:rPr>
                  <a:t>​ , distance between vehicles.</a:t>
                </a:r>
              </a:p>
              <a:p>
                <a:pPr marL="1033272" lvl="2" indent="-576072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4400" b="0" i="0" dirty="0">
                    <a:effectLst/>
                    <a:latin typeface="+mj-lt"/>
                  </a:rPr>
                  <a:t>Relative velocity:</a:t>
                </a:r>
                <a:r>
                  <a:rPr lang="zh-CN" altLang="en-US" sz="4400" b="0" i="0" dirty="0">
                    <a:effectLst/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4400" dirty="0"/>
                          <m:t>Δ</m:t>
                        </m:r>
                        <m:sSub>
                          <m:sSubPr>
                            <m:ctrlPr>
                              <a:rPr lang="en-US" altLang="zh-CN" sz="4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4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4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4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4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4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400" dirty="0"/>
                  <a:t>​ </a:t>
                </a:r>
                <a:r>
                  <a:rPr lang="en-US" sz="4400" b="0" i="0" dirty="0">
                    <a:effectLst/>
                    <a:latin typeface="+mj-lt"/>
                  </a:rPr>
                  <a:t> , speed difference.</a:t>
                </a:r>
              </a:p>
              <a:p>
                <a:pPr marL="1033272" lvl="2" indent="-576072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4400" b="0" i="0" dirty="0">
                    <a:effectLst/>
                    <a:latin typeface="+mj-lt"/>
                  </a:rPr>
                  <a:t>Acceleration: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4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b="0" i="1" smtClean="0"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4400" b="0" i="1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400" b="0" i="0" dirty="0">
                    <a:effectLst/>
                    <a:latin typeface="+mj-lt"/>
                  </a:rPr>
                  <a:t>​  (following vehicle) 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4400" dirty="0"/>
                  <a:t>​ </a:t>
                </a:r>
                <a:r>
                  <a:rPr lang="en-US" sz="4400" b="0" i="0" dirty="0">
                    <a:effectLst/>
                    <a:latin typeface="+mj-lt"/>
                  </a:rPr>
                  <a:t> (lead vehicle).</a:t>
                </a:r>
              </a:p>
              <a:p>
                <a:pPr marL="576072" indent="-576072">
                  <a:spcAft>
                    <a:spcPts val="600"/>
                  </a:spcAft>
                  <a:buFont typeface="Wingdings" panose="05000000000000000000" pitchFamily="2" charset="2"/>
                  <a:buChar char="§"/>
                </a:pPr>
                <a:r>
                  <a:rPr lang="en-US" sz="4400" b="0" i="0" dirty="0">
                    <a:effectLst/>
                    <a:latin typeface="+mj-lt"/>
                  </a:rPr>
                  <a:t>Input Vector: </a:t>
                </a:r>
                <a:r>
                  <a:rPr lang="zh-CN" altLang="en-US" sz="4400" b="0" i="0" dirty="0">
                    <a:effectLst/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4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4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altLang="zh-CN" sz="4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4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4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4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4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4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4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sz="4400" dirty="0"/>
                      <m:t>​</m:t>
                    </m:r>
                    <m:r>
                      <m:rPr>
                        <m:nor/>
                      </m:rPr>
                      <a:rPr lang="en-US" altLang="zh-CN" sz="4400" b="0" i="0" dirty="0" smtClean="0"/>
                      <m:t>,</m:t>
                    </m:r>
                    <m:sSub>
                      <m:sSubPr>
                        <m:ctrlPr>
                          <a:rPr lang="en-US" altLang="zh-CN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4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4400" dirty="0"/>
                      <m:t>​</m:t>
                    </m:r>
                    <m:r>
                      <m:rPr>
                        <m:nor/>
                      </m:rPr>
                      <a:rPr lang="el-GR" sz="4400" dirty="0"/>
                      <m:t>Δ</m:t>
                    </m:r>
                    <m:sSub>
                      <m:sSubPr>
                        <m:ctrlPr>
                          <a:rPr lang="en-US" altLang="zh-CN" sz="4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4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4400" dirty="0"/>
                  <a:t>)</a:t>
                </a:r>
                <a:r>
                  <a:rPr lang="en-US" sz="4400" dirty="0"/>
                  <a:t>​ </a:t>
                </a:r>
                <a:endParaRPr lang="en-US" sz="4400" b="0" i="0" dirty="0">
                  <a:effectLst/>
                  <a:latin typeface="+mj-lt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3785B67-AACD-4238-9C84-2E12AE2ED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577" y="31278341"/>
                <a:ext cx="16387009" cy="7402026"/>
              </a:xfrm>
              <a:prstGeom prst="rect">
                <a:avLst/>
              </a:prstGeom>
              <a:blipFill>
                <a:blip r:embed="rId5"/>
                <a:stretch>
                  <a:fillRect l="-1549" t="-1712" b="-3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3" name="Picture 42">
            <a:extLst>
              <a:ext uri="{FF2B5EF4-FFF2-40B4-BE49-F238E27FC236}">
                <a16:creationId xmlns:a16="http://schemas.microsoft.com/office/drawing/2014/main" id="{B20EF10C-2AF5-FF94-208D-A6E8E5B3604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6722"/>
          <a:stretch/>
        </p:blipFill>
        <p:spPr>
          <a:xfrm>
            <a:off x="1517993" y="39600198"/>
            <a:ext cx="14730183" cy="863499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9CA5C553-CD4E-E512-53AE-655658306C2E}"/>
              </a:ext>
            </a:extLst>
          </p:cNvPr>
          <p:cNvSpPr txBox="1"/>
          <p:nvPr/>
        </p:nvSpPr>
        <p:spPr>
          <a:xfrm>
            <a:off x="17969502" y="5767092"/>
            <a:ext cx="16387009" cy="10341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b="1" i="1" dirty="0">
                <a:effectLst/>
                <a:latin typeface="+mj-lt"/>
              </a:rPr>
              <a:t>B. Data Descriptive Analysis</a:t>
            </a:r>
          </a:p>
          <a:p>
            <a:pPr marL="576072" indent="-576072" algn="l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+mj-lt"/>
              </a:rPr>
              <a:t>Objective: Investigate differences in car-following behaviors across four categories: EV-ACC, ICE-ACC, EV-HV, and ICE-HV.</a:t>
            </a:r>
          </a:p>
          <a:p>
            <a:pPr marL="576072" indent="-576072" algn="l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+mj-lt"/>
              </a:rPr>
              <a:t>Class Imbalance: Addressed using class weighting strategies.</a:t>
            </a:r>
          </a:p>
          <a:p>
            <a:pPr marL="576072" indent="-576072" algn="l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+mj-lt"/>
              </a:rPr>
              <a:t>Findings:</a:t>
            </a:r>
          </a:p>
          <a:p>
            <a:pPr marL="1033272" lvl="2" indent="-576072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+mj-lt"/>
              </a:rPr>
              <a:t>EVs: </a:t>
            </a:r>
          </a:p>
          <a:p>
            <a:pPr marL="1490472" lvl="3" indent="-57607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b="0" i="0" dirty="0">
                <a:effectLst/>
                <a:latin typeface="+mj-lt"/>
              </a:rPr>
              <a:t>Less oscillatory behavior and smoother spacing</a:t>
            </a:r>
          </a:p>
          <a:p>
            <a:pPr marL="1490472" lvl="3" indent="-576072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b="0" i="0" dirty="0">
                <a:effectLst/>
                <a:latin typeface="+mj-lt"/>
              </a:rPr>
              <a:t>Follow lead vehicles more closely than ICE vehicles.</a:t>
            </a:r>
          </a:p>
          <a:p>
            <a:pPr marL="1033272" lvl="2" indent="-576072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4400" b="0" i="0" dirty="0">
                <a:effectLst/>
                <a:latin typeface="+mj-lt"/>
              </a:rPr>
              <a:t>ACC-equipped vehicles: </a:t>
            </a:r>
          </a:p>
          <a:p>
            <a:pPr marL="1485900" lvl="3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b="0" i="0" dirty="0">
                <a:effectLst/>
                <a:latin typeface="+mj-lt"/>
              </a:rPr>
              <a:t>Smoother car-following dynamics.</a:t>
            </a:r>
          </a:p>
          <a:p>
            <a:pPr marL="1033272" lvl="2" indent="-576072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zh-CN" sz="4400" dirty="0"/>
              <a:t>H</a:t>
            </a:r>
            <a:r>
              <a:rPr lang="en-US" sz="4400" dirty="0"/>
              <a:t>uman-driven vehicles </a:t>
            </a:r>
            <a:r>
              <a:rPr lang="en-US" sz="4400" b="0" i="0" dirty="0">
                <a:effectLst/>
                <a:latin typeface="+mj-lt"/>
              </a:rPr>
              <a:t>: </a:t>
            </a:r>
          </a:p>
          <a:p>
            <a:pPr marL="1485900" lvl="3" indent="-5715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4400" dirty="0"/>
              <a:t>K</a:t>
            </a:r>
            <a:r>
              <a:rPr lang="en-US" sz="4400" dirty="0"/>
              <a:t>eep longer following distances and show more oscillatory behavior than ACC-equipped vehicles.</a:t>
            </a:r>
          </a:p>
          <a:p>
            <a:pPr marL="914400" lvl="3">
              <a:spcAft>
                <a:spcPts val="600"/>
              </a:spcAft>
            </a:pPr>
            <a:endParaRPr lang="en-US" sz="4400" b="0" i="0" dirty="0">
              <a:effectLst/>
              <a:latin typeface="+mj-l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7C84FE-3B4A-BAB8-CF6F-0A2699D20472}"/>
              </a:ext>
            </a:extLst>
          </p:cNvPr>
          <p:cNvSpPr txBox="1"/>
          <p:nvPr/>
        </p:nvSpPr>
        <p:spPr>
          <a:xfrm>
            <a:off x="17398171" y="15626770"/>
            <a:ext cx="16988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IV. Results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88541F-79F8-07D7-FC5B-11AAEBB23E74}"/>
              </a:ext>
            </a:extLst>
          </p:cNvPr>
          <p:cNvSpPr txBox="1"/>
          <p:nvPr/>
        </p:nvSpPr>
        <p:spPr>
          <a:xfrm>
            <a:off x="17999749" y="17198718"/>
            <a:ext cx="16738349" cy="1683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i="1" dirty="0">
                <a:latin typeface="+mj-lt"/>
              </a:rPr>
              <a:t>A</a:t>
            </a:r>
            <a:r>
              <a:rPr lang="en-US" sz="4400" b="1" i="1" dirty="0">
                <a:latin typeface="+mj-lt"/>
              </a:rPr>
              <a:t>. Single-stage classification models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Random Forest: Highest accuracy (74%) and F1 Score (0.70).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 err="1">
                <a:latin typeface="+mj-lt"/>
              </a:rPr>
              <a:t>XGBoost</a:t>
            </a:r>
            <a:r>
              <a:rPr lang="en-US" sz="4400" dirty="0">
                <a:latin typeface="+mj-lt"/>
              </a:rPr>
              <a:t>, SVM, Logistic Regression: Comparatively lower performance.</a:t>
            </a:r>
          </a:p>
          <a:p>
            <a:endParaRPr lang="en-US" sz="3600" dirty="0">
              <a:latin typeface="+mj-lt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sz="3600" dirty="0">
              <a:latin typeface="+mj-lt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sz="3600" dirty="0">
              <a:latin typeface="+mj-lt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sz="3600" dirty="0">
              <a:latin typeface="+mj-lt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sz="3600" dirty="0">
              <a:latin typeface="+mj-lt"/>
            </a:endParaRP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sz="3600" dirty="0">
              <a:latin typeface="+mj-lt"/>
            </a:endParaRPr>
          </a:p>
          <a:p>
            <a:endParaRPr lang="en-US" sz="3600" i="1" dirty="0">
              <a:latin typeface="+mj-lt"/>
            </a:endParaRPr>
          </a:p>
          <a:p>
            <a:r>
              <a:rPr lang="en-US" altLang="zh-CN" sz="4400" b="1" i="1" dirty="0">
                <a:latin typeface="+mj-lt"/>
              </a:rPr>
              <a:t>B</a:t>
            </a:r>
            <a:r>
              <a:rPr lang="en-US" sz="4400" b="1" i="1" dirty="0">
                <a:latin typeface="+mj-lt"/>
              </a:rPr>
              <a:t>. Multi-stage classification models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Sequence O</a:t>
            </a:r>
            <a:r>
              <a:rPr lang="en-US" altLang="zh-CN" sz="4400" dirty="0">
                <a:latin typeface="+mj-lt"/>
              </a:rPr>
              <a:t>peration</a:t>
            </a:r>
            <a:r>
              <a:rPr lang="zh-CN" altLang="en-US" sz="4400" dirty="0">
                <a:latin typeface="+mj-lt"/>
              </a:rPr>
              <a:t> </a:t>
            </a:r>
            <a:r>
              <a:rPr lang="en-US" sz="4400" dirty="0">
                <a:latin typeface="+mj-lt"/>
              </a:rPr>
              <a:t>M</a:t>
            </a:r>
            <a:r>
              <a:rPr lang="en-US" altLang="zh-CN" sz="4400" dirty="0">
                <a:latin typeface="+mj-lt"/>
              </a:rPr>
              <a:t>ode</a:t>
            </a:r>
            <a:r>
              <a:rPr lang="en-US" sz="4400" dirty="0">
                <a:latin typeface="+mj-lt"/>
              </a:rPr>
              <a:t>-V</a:t>
            </a:r>
            <a:r>
              <a:rPr lang="en-US" altLang="zh-CN" sz="4400" dirty="0">
                <a:latin typeface="+mj-lt"/>
              </a:rPr>
              <a:t>ehicle</a:t>
            </a:r>
            <a:r>
              <a:rPr lang="zh-CN" altLang="en-US" sz="4400" dirty="0">
                <a:latin typeface="+mj-lt"/>
              </a:rPr>
              <a:t> </a:t>
            </a:r>
            <a:r>
              <a:rPr lang="en-US" sz="4400" dirty="0">
                <a:latin typeface="+mj-lt"/>
              </a:rPr>
              <a:t>T</a:t>
            </a:r>
            <a:r>
              <a:rPr lang="en-US" altLang="zh-CN" sz="4400" dirty="0">
                <a:latin typeface="+mj-lt"/>
              </a:rPr>
              <a:t>ype</a:t>
            </a:r>
            <a:r>
              <a:rPr lang="en-US" sz="4400" dirty="0">
                <a:latin typeface="+mj-lt"/>
              </a:rPr>
              <a:t>: First classify operation mode, then vehicle type.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Stage 1: </a:t>
            </a:r>
            <a:r>
              <a:rPr lang="en-US" sz="4400" dirty="0" err="1">
                <a:latin typeface="+mj-lt"/>
              </a:rPr>
              <a:t>XGBoost</a:t>
            </a:r>
            <a:r>
              <a:rPr lang="en-US" sz="4400" dirty="0">
                <a:latin typeface="+mj-lt"/>
              </a:rPr>
              <a:t> achieved 87% accuracy.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Stage 2: Random Forest achieved 86% accuracy.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Overall: 75% accuracy and F1 Score of 0.73.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Sequence V</a:t>
            </a:r>
            <a:r>
              <a:rPr lang="en-US" altLang="zh-CN" sz="4400" dirty="0">
                <a:latin typeface="+mj-lt"/>
              </a:rPr>
              <a:t>ehicle</a:t>
            </a:r>
            <a:r>
              <a:rPr lang="zh-CN" altLang="en-US" sz="4400" dirty="0">
                <a:latin typeface="+mj-lt"/>
              </a:rPr>
              <a:t> </a:t>
            </a:r>
            <a:r>
              <a:rPr lang="en-US" sz="4400" dirty="0">
                <a:latin typeface="+mj-lt"/>
              </a:rPr>
              <a:t>T</a:t>
            </a:r>
            <a:r>
              <a:rPr lang="en-US" altLang="zh-CN" sz="4400" dirty="0">
                <a:latin typeface="+mj-lt"/>
              </a:rPr>
              <a:t>ype</a:t>
            </a:r>
            <a:r>
              <a:rPr lang="en-US" sz="4400" dirty="0">
                <a:latin typeface="+mj-lt"/>
              </a:rPr>
              <a:t>-O</a:t>
            </a:r>
            <a:r>
              <a:rPr lang="en-US" altLang="zh-CN" sz="4400" dirty="0">
                <a:latin typeface="+mj-lt"/>
              </a:rPr>
              <a:t>peration</a:t>
            </a:r>
            <a:r>
              <a:rPr lang="zh-CN" altLang="en-US" sz="4400" dirty="0">
                <a:latin typeface="+mj-lt"/>
              </a:rPr>
              <a:t> </a:t>
            </a:r>
            <a:r>
              <a:rPr lang="en-US" sz="4400" dirty="0">
                <a:latin typeface="+mj-lt"/>
              </a:rPr>
              <a:t>M</a:t>
            </a:r>
            <a:r>
              <a:rPr lang="en-US" altLang="zh-CN" sz="4400" dirty="0">
                <a:latin typeface="+mj-lt"/>
              </a:rPr>
              <a:t>ode</a:t>
            </a:r>
            <a:r>
              <a:rPr lang="en-US" sz="4400" dirty="0">
                <a:latin typeface="+mj-lt"/>
              </a:rPr>
              <a:t>: First classify vehicle type, then operation mode.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Similar performance: Slightly lower accuracy and F1 Score.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endParaRPr lang="en-US" sz="4400" dirty="0">
              <a:latin typeface="+mj-lt"/>
            </a:endParaRPr>
          </a:p>
          <a:p>
            <a:r>
              <a:rPr lang="en-US" altLang="zh-CN" sz="4400" b="1" i="1" dirty="0">
                <a:latin typeface="+mj-lt"/>
              </a:rPr>
              <a:t>C</a:t>
            </a:r>
            <a:r>
              <a:rPr lang="en-US" sz="4400" b="1" i="1" dirty="0">
                <a:latin typeface="+mj-lt"/>
              </a:rPr>
              <a:t>. Comparisons between the single-stage and the multi-stage model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Single-stage vs. Multi-stage: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Single-stage: Simplicity and fewer tuning steps.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Multi-stage: Better interpretability and slightly higher performance.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Conclusion: Both approaches are effective; choice depends on the need for simplicity vs. interpretability.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839587-2821-3881-6A44-5149D8474DD2}"/>
              </a:ext>
            </a:extLst>
          </p:cNvPr>
          <p:cNvSpPr txBox="1"/>
          <p:nvPr/>
        </p:nvSpPr>
        <p:spPr>
          <a:xfrm>
            <a:off x="17398171" y="41281143"/>
            <a:ext cx="16988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V. Concluding Remarks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75B6C7-8199-B377-43F6-7E094D7577A8}"/>
              </a:ext>
            </a:extLst>
          </p:cNvPr>
          <p:cNvSpPr txBox="1"/>
          <p:nvPr/>
        </p:nvSpPr>
        <p:spPr>
          <a:xfrm>
            <a:off x="17999749" y="42896634"/>
            <a:ext cx="1638700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Impact: Vehicle automation and electrification significantly influence traffic dynamics.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Framework: Effective in classifying vehicle types and operation modes using real-world trajectory data.</a:t>
            </a:r>
          </a:p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400" dirty="0">
                <a:latin typeface="+mj-lt"/>
              </a:rPr>
              <a:t>Future Work: Incorporate synthetic and data-driven trajectories to enhance model robustness and practical applicability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76DAD0A-1860-6099-C1D0-5022BADB85E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77" t="11213" r="3034"/>
          <a:stretch/>
        </p:blipFill>
        <p:spPr>
          <a:xfrm>
            <a:off x="17702761" y="34225180"/>
            <a:ext cx="16920489" cy="67239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DBAABF7-96D6-D135-FEC3-592E551231D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4909"/>
          <a:stretch/>
        </p:blipFill>
        <p:spPr>
          <a:xfrm>
            <a:off x="18729957" y="19614792"/>
            <a:ext cx="14028522" cy="29835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DBF0C0-4A88-290B-097A-0242904F6D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81" t="3266" r="31239"/>
          <a:stretch/>
        </p:blipFill>
        <p:spPr>
          <a:xfrm rot="5400000">
            <a:off x="6417050" y="19354929"/>
            <a:ext cx="4524314" cy="1743792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BC38077-8C87-2720-8FB9-30E0262E34E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4183"/>
          <a:stretch/>
        </p:blipFill>
        <p:spPr>
          <a:xfrm>
            <a:off x="31554207" y="46931621"/>
            <a:ext cx="3115794" cy="3940931"/>
          </a:xfrm>
          <a:prstGeom prst="rect">
            <a:avLst/>
          </a:prstGeom>
        </p:spPr>
      </p:pic>
      <p:pic>
        <p:nvPicPr>
          <p:cNvPr id="7" name="Picture 6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6F8E5A1F-E6DB-5485-F9BD-929BB8E111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894716" y="2185465"/>
            <a:ext cx="8316802" cy="19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8404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dbbadea-8f70-4563-8a78-a2f1acdcdf5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90FC473C554E49A02153617E981297" ma:contentTypeVersion="11" ma:contentTypeDescription="Create a new document." ma:contentTypeScope="" ma:versionID="d77bb510b3141ece8e87687ac7a26006">
  <xsd:schema xmlns:xsd="http://www.w3.org/2001/XMLSchema" xmlns:xs="http://www.w3.org/2001/XMLSchema" xmlns:p="http://schemas.microsoft.com/office/2006/metadata/properties" xmlns:ns3="6dbbadea-8f70-4563-8a78-a2f1acdcdf56" xmlns:ns4="97cd8d3e-89c1-4e76-a75c-65401813a6b0" targetNamespace="http://schemas.microsoft.com/office/2006/metadata/properties" ma:root="true" ma:fieldsID="045418334e6f0bc1a2b40e64b3dd05f6" ns3:_="" ns4:_="">
    <xsd:import namespace="6dbbadea-8f70-4563-8a78-a2f1acdcdf56"/>
    <xsd:import namespace="97cd8d3e-89c1-4e76-a75c-65401813a6b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bbadea-8f70-4563-8a78-a2f1acdcd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d8d3e-89c1-4e76-a75c-65401813a6b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F4D5F4-2C97-434F-B4C9-04E670FC33EB}">
  <ds:schemaRefs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97cd8d3e-89c1-4e76-a75c-65401813a6b0"/>
    <ds:schemaRef ds:uri="6dbbadea-8f70-4563-8a78-a2f1acdcdf56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87258D5-FB9A-497C-BD4F-82FAFD8188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bbadea-8f70-4563-8a78-a2f1acdcdf56"/>
    <ds:schemaRef ds:uri="97cd8d3e-89c1-4e76-a75c-65401813a6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A97C51-072E-430A-90BA-34AC7D15DD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789</TotalTime>
  <Words>600</Words>
  <Application>Microsoft Macintosh PowerPoint</Application>
  <PresentationFormat>Custom</PresentationFormat>
  <Paragraphs>69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Iliev, Sofia Vassileva - (sofiailiev)</dc:creator>
  <cp:lastModifiedBy>Zhao, Jun - (zhaojun)</cp:lastModifiedBy>
  <cp:revision>21</cp:revision>
  <dcterms:created xsi:type="dcterms:W3CDTF">2025-05-08T19:52:11Z</dcterms:created>
  <dcterms:modified xsi:type="dcterms:W3CDTF">2025-05-10T03:05:50Z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0x0101000790FC473C554E49A02153617E981297</vt:lpwstr>
  </property>
</Properties>
</file>